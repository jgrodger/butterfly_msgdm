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47" autoAdjust="0"/>
  </p:normalViewPr>
  <p:slideViewPr>
    <p:cSldViewPr snapToGrid="0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D21CE-0CFC-4FEC-C308-871CC3B8A1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A87E5B-D745-B311-086A-451803904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8AAA2-4C32-B5A8-4C96-472280FE2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39DDD-9EE9-44F5-8997-0932F1FFC27B}" type="datetimeFigureOut">
              <a:rPr lang="en-ZA" smtClean="0"/>
              <a:t>2026/07/20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75FA5-A184-E58C-6811-21875B828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227B6-A9D2-6C4A-BDC1-70DA50E94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F218C-F6C5-4DDF-B4A1-1ACAF36C3A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95806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2AEFF-E870-42F5-26B5-A68904037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5FD73-A40C-3134-CFAF-755A9F95C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34A81-FCE2-8AD5-A92E-635EC2AFB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39DDD-9EE9-44F5-8997-0932F1FFC27B}" type="datetimeFigureOut">
              <a:rPr lang="en-ZA" smtClean="0"/>
              <a:t>2026/07/20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1E59F-7DEC-F3DC-7664-345E470BA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026A9-028D-C6BA-3DF7-A935CF042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F218C-F6C5-4DDF-B4A1-1ACAF36C3A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85102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58186-B575-9F7B-D2EA-F9A115BDF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DA694-DF1B-6505-882A-85927D901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FF216-81B2-9F40-A5F6-419086B92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39DDD-9EE9-44F5-8997-0932F1FFC27B}" type="datetimeFigureOut">
              <a:rPr lang="en-ZA" smtClean="0"/>
              <a:t>2026/07/20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7A0D4-F866-7095-3EA6-267904EAF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2D3E4-DE23-1680-A179-80C9434CF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F218C-F6C5-4DDF-B4A1-1ACAF36C3A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85526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86140-1639-F129-1ED5-63A9919E3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73CD3-2F30-C9EF-1DF2-38D57C237A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97F555-6A93-5E3D-F0C0-18F45E0A5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BFC24-A352-FFE5-916C-D7836ADE9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39DDD-9EE9-44F5-8997-0932F1FFC27B}" type="datetimeFigureOut">
              <a:rPr lang="en-ZA" smtClean="0"/>
              <a:t>2026/07/20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EBE8F4-A954-6407-5560-13AAEEAA0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5F3E6-09DF-EDA8-E462-EBA63381A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F218C-F6C5-4DDF-B4A1-1ACAF36C3A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85217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D1356-612A-9C26-BA86-15A7907D5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17C4A-62F9-52D6-3F7F-E263C13C7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8BAF83-39D8-8EC0-60AD-880F1D45D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0EBDCD-0758-D0A5-DDCC-B40A6A209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4D6D27-0A8E-523A-ABA4-B5CE79A2A0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FE1B3B-0945-139C-DFAD-0ADC7B1FA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39DDD-9EE9-44F5-8997-0932F1FFC27B}" type="datetimeFigureOut">
              <a:rPr lang="en-ZA" smtClean="0"/>
              <a:t>2026/07/20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B583BE-32E3-B494-CCA9-41D7D5DCC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C1921E-DE6B-CD5F-833D-40D9A0109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F218C-F6C5-4DDF-B4A1-1ACAF36C3A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68696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772DC-1A8E-BC80-933E-2509DFE92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DF186F-FEF7-26C7-54D2-CEB240DCB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39DDD-9EE9-44F5-8997-0932F1FFC27B}" type="datetimeFigureOut">
              <a:rPr lang="en-ZA" smtClean="0"/>
              <a:t>2026/07/20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448F1-4249-331C-63C0-E39D01531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D795AF-6153-06BC-4B45-4E4BDE31D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F218C-F6C5-4DDF-B4A1-1ACAF36C3A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72257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32A5F9-7335-F5F1-1E82-05862AC5B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39DDD-9EE9-44F5-8997-0932F1FFC27B}" type="datetimeFigureOut">
              <a:rPr lang="en-ZA" smtClean="0"/>
              <a:t>2026/07/20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984D4B-0FDC-0CAE-FB8C-B649D3D08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C59EF-6440-58F3-A190-AB7681232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F218C-F6C5-4DDF-B4A1-1ACAF36C3A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25656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BACDF-B03D-8CE6-E808-EFA0AEADF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380FE-250D-6BB6-54C1-BE5DA13A8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BDF58-CE8D-91D7-31E0-A7E41D3B5A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8CA3EE-DF5D-9BD1-3B80-0D4D1C4A4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39DDD-9EE9-44F5-8997-0932F1FFC27B}" type="datetimeFigureOut">
              <a:rPr lang="en-ZA" smtClean="0"/>
              <a:t>2026/07/20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5F547F-18CD-CB6A-1935-FA98CC55F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93E7A-F6D1-C8C2-EAD2-7E8948562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F218C-F6C5-4DDF-B4A1-1ACAF36C3A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1511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DEFF8-8183-B90F-F821-9B259F81D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E4C352-3FAB-F8EB-AAC5-2D258A4C61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ACD30D-7CC3-3E28-1940-D25156046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DDFCB-97C5-5415-AD88-8FDB9647E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39DDD-9EE9-44F5-8997-0932F1FFC27B}" type="datetimeFigureOut">
              <a:rPr lang="en-ZA" smtClean="0"/>
              <a:t>2026/07/20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8BA11-AC8A-6BE7-735D-88E40530D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A21F69-FADE-1C4E-DCAB-F6D210E04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F218C-F6C5-4DDF-B4A1-1ACAF36C3A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03631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67D0D-A5CA-A902-E05C-24339E71F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BD9A39-B715-E3BA-C634-116778D7D3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525D7-E808-A26D-1F81-A1E38B1E8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39DDD-9EE9-44F5-8997-0932F1FFC27B}" type="datetimeFigureOut">
              <a:rPr lang="en-ZA" smtClean="0"/>
              <a:t>2026/07/20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2B0A3-4CC8-5ACB-A795-90465BAE3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5FC67-2F8F-A898-90A0-CBA4BC7B7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F218C-F6C5-4DDF-B4A1-1ACAF36C3A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7844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61C626-18C0-CA1E-B0A7-F762111A60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10062-5674-1F27-1074-B744FB2F23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B20D8-36F7-BFD0-6F41-CC263E722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39DDD-9EE9-44F5-8997-0932F1FFC27B}" type="datetimeFigureOut">
              <a:rPr lang="en-ZA" smtClean="0"/>
              <a:t>2026/07/20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89D4E-0F1B-D434-F330-B71DA98F2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01CC0-9823-4A42-6D2C-6764A01C5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F218C-F6C5-4DDF-B4A1-1ACAF36C3A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22264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EAB2F1-B53D-5B7F-E093-FE4538ACB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4873A-AD22-97F4-1491-5F82E02BA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7298C-BC2F-FE65-788B-CAC857258C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39DDD-9EE9-44F5-8997-0932F1FFC27B}" type="datetimeFigureOut">
              <a:rPr lang="en-ZA" smtClean="0"/>
              <a:t>2026/07/20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7566C-6190-DA72-F087-482F17C164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1BF02-27D9-DF27-64B9-5D23DD886D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5F218C-F6C5-4DDF-B4A1-1ACAF36C3A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52904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99A1241E-FCAB-71BD-FE15-8635A4AEF885}"/>
              </a:ext>
            </a:extLst>
          </p:cNvPr>
          <p:cNvCxnSpPr>
            <a:cxnSpLocks/>
            <a:stCxn id="62" idx="0"/>
            <a:endCxn id="163" idx="2"/>
          </p:cNvCxnSpPr>
          <p:nvPr/>
        </p:nvCxnSpPr>
        <p:spPr>
          <a:xfrm flipV="1">
            <a:off x="7944335" y="2628762"/>
            <a:ext cx="4712" cy="3824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: Elbow 124">
            <a:extLst>
              <a:ext uri="{FF2B5EF4-FFF2-40B4-BE49-F238E27FC236}">
                <a16:creationId xmlns:a16="http://schemas.microsoft.com/office/drawing/2014/main" id="{BE6B733E-FBFB-FEE2-1869-E822C7A4FE4B}"/>
              </a:ext>
            </a:extLst>
          </p:cNvPr>
          <p:cNvCxnSpPr>
            <a:cxnSpLocks/>
          </p:cNvCxnSpPr>
          <p:nvPr/>
        </p:nvCxnSpPr>
        <p:spPr>
          <a:xfrm>
            <a:off x="1856996" y="1358360"/>
            <a:ext cx="1344681" cy="93505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28B0298D-90B6-CE70-8844-62E039199F59}"/>
              </a:ext>
            </a:extLst>
          </p:cNvPr>
          <p:cNvSpPr/>
          <p:nvPr/>
        </p:nvSpPr>
        <p:spPr>
          <a:xfrm>
            <a:off x="2176494" y="271988"/>
            <a:ext cx="1113577" cy="811860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UKBMS from David Roy (</a:t>
            </a:r>
            <a:r>
              <a:rPr lang="en-US" sz="900" dirty="0" err="1"/>
              <a:t>CSV_Data</a:t>
            </a:r>
            <a:r>
              <a:rPr lang="en-US" sz="9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Records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Sites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Species</a:t>
            </a:r>
            <a:endParaRPr lang="en-ZA" sz="900" dirty="0"/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3B7DFCBF-59DB-9A47-B591-E153BF5202D0}"/>
              </a:ext>
            </a:extLst>
          </p:cNvPr>
          <p:cNvSpPr/>
          <p:nvPr/>
        </p:nvSpPr>
        <p:spPr>
          <a:xfrm>
            <a:off x="3413413" y="500679"/>
            <a:ext cx="1113577" cy="436074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Site data from Rob</a:t>
            </a:r>
            <a:endParaRPr lang="en-ZA" sz="900" dirty="0"/>
          </a:p>
        </p:txBody>
      </p:sp>
      <p:sp>
        <p:nvSpPr>
          <p:cNvPr id="26" name="Flowchart: Process 25">
            <a:extLst>
              <a:ext uri="{FF2B5EF4-FFF2-40B4-BE49-F238E27FC236}">
                <a16:creationId xmlns:a16="http://schemas.microsoft.com/office/drawing/2014/main" id="{4A41D7C9-E3C6-D603-7D0E-CCBE0AAE3BB4}"/>
              </a:ext>
            </a:extLst>
          </p:cNvPr>
          <p:cNvSpPr/>
          <p:nvPr/>
        </p:nvSpPr>
        <p:spPr>
          <a:xfrm>
            <a:off x="921729" y="1337795"/>
            <a:ext cx="805760" cy="436074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Basemaps</a:t>
            </a:r>
            <a:endParaRPr lang="en-ZA" sz="900" dirty="0"/>
          </a:p>
        </p:txBody>
      </p:sp>
      <p:sp>
        <p:nvSpPr>
          <p:cNvPr id="27" name="Flowchart: Process 26">
            <a:extLst>
              <a:ext uri="{FF2B5EF4-FFF2-40B4-BE49-F238E27FC236}">
                <a16:creationId xmlns:a16="http://schemas.microsoft.com/office/drawing/2014/main" id="{058C9BA1-2851-6CEF-2A7B-A9AA976BB2DE}"/>
              </a:ext>
            </a:extLst>
          </p:cNvPr>
          <p:cNvSpPr/>
          <p:nvPr/>
        </p:nvSpPr>
        <p:spPr>
          <a:xfrm>
            <a:off x="929273" y="1990784"/>
            <a:ext cx="805760" cy="436074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Temperature</a:t>
            </a:r>
            <a:endParaRPr lang="en-ZA" sz="900" dirty="0"/>
          </a:p>
        </p:txBody>
      </p:sp>
      <p:sp>
        <p:nvSpPr>
          <p:cNvPr id="28" name="Flowchart: Process 27">
            <a:extLst>
              <a:ext uri="{FF2B5EF4-FFF2-40B4-BE49-F238E27FC236}">
                <a16:creationId xmlns:a16="http://schemas.microsoft.com/office/drawing/2014/main" id="{A55354DB-BD9E-CFE7-20C1-2C03E1DC8F3A}"/>
              </a:ext>
            </a:extLst>
          </p:cNvPr>
          <p:cNvSpPr/>
          <p:nvPr/>
        </p:nvSpPr>
        <p:spPr>
          <a:xfrm>
            <a:off x="949644" y="2615865"/>
            <a:ext cx="805760" cy="436074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Rainfall</a:t>
            </a:r>
            <a:endParaRPr lang="en-ZA" sz="900" dirty="0"/>
          </a:p>
        </p:txBody>
      </p:sp>
      <p:sp>
        <p:nvSpPr>
          <p:cNvPr id="29" name="Flowchart: Process 28">
            <a:extLst>
              <a:ext uri="{FF2B5EF4-FFF2-40B4-BE49-F238E27FC236}">
                <a16:creationId xmlns:a16="http://schemas.microsoft.com/office/drawing/2014/main" id="{4207E42F-57B3-FC12-1EBD-1AFD1214796A}"/>
              </a:ext>
            </a:extLst>
          </p:cNvPr>
          <p:cNvSpPr/>
          <p:nvPr/>
        </p:nvSpPr>
        <p:spPr>
          <a:xfrm>
            <a:off x="938323" y="3158136"/>
            <a:ext cx="805760" cy="436074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Topographic wetness</a:t>
            </a:r>
            <a:endParaRPr lang="en-ZA" sz="900" dirty="0"/>
          </a:p>
        </p:txBody>
      </p:sp>
      <p:sp>
        <p:nvSpPr>
          <p:cNvPr id="30" name="Flowchart: Process 29">
            <a:extLst>
              <a:ext uri="{FF2B5EF4-FFF2-40B4-BE49-F238E27FC236}">
                <a16:creationId xmlns:a16="http://schemas.microsoft.com/office/drawing/2014/main" id="{4AE3CE10-2D66-D959-A347-2120C99D7D63}"/>
              </a:ext>
            </a:extLst>
          </p:cNvPr>
          <p:cNvSpPr/>
          <p:nvPr/>
        </p:nvSpPr>
        <p:spPr>
          <a:xfrm>
            <a:off x="930027" y="3739445"/>
            <a:ext cx="805760" cy="436074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pH</a:t>
            </a:r>
            <a:endParaRPr lang="en-ZA" sz="900" dirty="0"/>
          </a:p>
        </p:txBody>
      </p:sp>
      <p:sp>
        <p:nvSpPr>
          <p:cNvPr id="31" name="Flowchart: Process 30">
            <a:extLst>
              <a:ext uri="{FF2B5EF4-FFF2-40B4-BE49-F238E27FC236}">
                <a16:creationId xmlns:a16="http://schemas.microsoft.com/office/drawing/2014/main" id="{7A8B41AE-D72F-5883-83A1-68C5DCF940BA}"/>
              </a:ext>
            </a:extLst>
          </p:cNvPr>
          <p:cNvSpPr/>
          <p:nvPr/>
        </p:nvSpPr>
        <p:spPr>
          <a:xfrm>
            <a:off x="895321" y="4314711"/>
            <a:ext cx="805760" cy="436074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Nitrogen</a:t>
            </a:r>
            <a:endParaRPr lang="en-ZA" sz="900" dirty="0"/>
          </a:p>
        </p:txBody>
      </p:sp>
      <p:sp>
        <p:nvSpPr>
          <p:cNvPr id="32" name="Flowchart: Process 31">
            <a:extLst>
              <a:ext uri="{FF2B5EF4-FFF2-40B4-BE49-F238E27FC236}">
                <a16:creationId xmlns:a16="http://schemas.microsoft.com/office/drawing/2014/main" id="{B941EEBD-5686-C42E-BEC7-D0BF70873FFC}"/>
              </a:ext>
            </a:extLst>
          </p:cNvPr>
          <p:cNvSpPr/>
          <p:nvPr/>
        </p:nvSpPr>
        <p:spPr>
          <a:xfrm>
            <a:off x="902866" y="4891112"/>
            <a:ext cx="805760" cy="436074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Tree density</a:t>
            </a:r>
            <a:endParaRPr lang="en-ZA" sz="900" dirty="0"/>
          </a:p>
        </p:txBody>
      </p:sp>
      <p:sp>
        <p:nvSpPr>
          <p:cNvPr id="33" name="Flowchart: Process 32">
            <a:extLst>
              <a:ext uri="{FF2B5EF4-FFF2-40B4-BE49-F238E27FC236}">
                <a16:creationId xmlns:a16="http://schemas.microsoft.com/office/drawing/2014/main" id="{501AA2D3-112F-E003-BD98-62EF231E29EE}"/>
              </a:ext>
            </a:extLst>
          </p:cNvPr>
          <p:cNvSpPr/>
          <p:nvPr/>
        </p:nvSpPr>
        <p:spPr>
          <a:xfrm>
            <a:off x="895321" y="5471286"/>
            <a:ext cx="805760" cy="436074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Pesticide risk</a:t>
            </a:r>
            <a:endParaRPr lang="en-ZA" sz="900" dirty="0"/>
          </a:p>
        </p:txBody>
      </p:sp>
      <p:sp>
        <p:nvSpPr>
          <p:cNvPr id="34" name="Flowchart: Process 33">
            <a:extLst>
              <a:ext uri="{FF2B5EF4-FFF2-40B4-BE49-F238E27FC236}">
                <a16:creationId xmlns:a16="http://schemas.microsoft.com/office/drawing/2014/main" id="{6D88215C-D3B5-B6BA-DCA5-4026736C5C79}"/>
              </a:ext>
            </a:extLst>
          </p:cNvPr>
          <p:cNvSpPr/>
          <p:nvPr/>
        </p:nvSpPr>
        <p:spPr>
          <a:xfrm>
            <a:off x="895321" y="6089936"/>
            <a:ext cx="805760" cy="436074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Human density</a:t>
            </a:r>
            <a:endParaRPr lang="en-ZA" sz="900" dirty="0"/>
          </a:p>
        </p:txBody>
      </p:sp>
      <p:sp>
        <p:nvSpPr>
          <p:cNvPr id="35" name="Flowchart: Decision 34">
            <a:extLst>
              <a:ext uri="{FF2B5EF4-FFF2-40B4-BE49-F238E27FC236}">
                <a16:creationId xmlns:a16="http://schemas.microsoft.com/office/drawing/2014/main" id="{700ADCBC-A735-33FB-5C22-2340D2001C6B}"/>
              </a:ext>
            </a:extLst>
          </p:cNvPr>
          <p:cNvSpPr/>
          <p:nvPr/>
        </p:nvSpPr>
        <p:spPr>
          <a:xfrm>
            <a:off x="2357933" y="2343709"/>
            <a:ext cx="1163127" cy="811860"/>
          </a:xfrm>
          <a:prstGeom prst="flowChartDecis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1_Process_csv_data.Rmd</a:t>
            </a:r>
            <a:endParaRPr lang="en-ZA" sz="800" dirty="0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8CA4CA33-1BE0-0225-B31F-61A061AD34D2}"/>
              </a:ext>
            </a:extLst>
          </p:cNvPr>
          <p:cNvCxnSpPr>
            <a:cxnSpLocks/>
            <a:stCxn id="4" idx="2"/>
            <a:endCxn id="35" idx="0"/>
          </p:cNvCxnSpPr>
          <p:nvPr/>
        </p:nvCxnSpPr>
        <p:spPr>
          <a:xfrm>
            <a:off x="2733283" y="1083848"/>
            <a:ext cx="206214" cy="1259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Flowchart: Decision 89">
            <a:extLst>
              <a:ext uri="{FF2B5EF4-FFF2-40B4-BE49-F238E27FC236}">
                <a16:creationId xmlns:a16="http://schemas.microsoft.com/office/drawing/2014/main" id="{FFE5EEF6-2F0C-18D9-DA35-5AEFFD498BA2}"/>
              </a:ext>
            </a:extLst>
          </p:cNvPr>
          <p:cNvSpPr/>
          <p:nvPr/>
        </p:nvSpPr>
        <p:spPr>
          <a:xfrm>
            <a:off x="2358657" y="4691450"/>
            <a:ext cx="1163127" cy="811860"/>
          </a:xfrm>
          <a:prstGeom prst="flowChartDecis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2_Butterflies_combine_env_data.Rmd</a:t>
            </a:r>
            <a:endParaRPr lang="en-ZA" sz="800" dirty="0"/>
          </a:p>
        </p:txBody>
      </p:sp>
      <p:sp>
        <p:nvSpPr>
          <p:cNvPr id="91" name="Flowchart: Process 90">
            <a:extLst>
              <a:ext uri="{FF2B5EF4-FFF2-40B4-BE49-F238E27FC236}">
                <a16:creationId xmlns:a16="http://schemas.microsoft.com/office/drawing/2014/main" id="{2C26C2EA-B7D8-7138-0CDF-EAF37B8FB625}"/>
              </a:ext>
            </a:extLst>
          </p:cNvPr>
          <p:cNvSpPr/>
          <p:nvPr/>
        </p:nvSpPr>
        <p:spPr>
          <a:xfrm>
            <a:off x="2599620" y="3631241"/>
            <a:ext cx="663582" cy="633461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700" dirty="0"/>
              <a:t>Partly processed data: </a:t>
            </a:r>
            <a:r>
              <a:rPr lang="en-ZA" sz="700" dirty="0" err="1"/>
              <a:t>spatial_ukbms_obs_sites_spp.Rds</a:t>
            </a:r>
            <a:endParaRPr lang="en-ZA" sz="700" dirty="0"/>
          </a:p>
          <a:p>
            <a:pPr algn="ctr"/>
            <a:endParaRPr lang="en-ZA" sz="700" dirty="0"/>
          </a:p>
          <a:p>
            <a:pPr algn="ctr"/>
            <a:endParaRPr lang="en-ZA" sz="700" dirty="0"/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1B06453D-170B-752E-A486-12F3757C5FED}"/>
              </a:ext>
            </a:extLst>
          </p:cNvPr>
          <p:cNvCxnSpPr>
            <a:cxnSpLocks/>
            <a:stCxn id="5" idx="2"/>
            <a:endCxn id="35" idx="0"/>
          </p:cNvCxnSpPr>
          <p:nvPr/>
        </p:nvCxnSpPr>
        <p:spPr>
          <a:xfrm flipH="1">
            <a:off x="2939497" y="936753"/>
            <a:ext cx="1030705" cy="14069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ED9CECE6-A0B8-1AA1-2F27-97312B5FA72D}"/>
              </a:ext>
            </a:extLst>
          </p:cNvPr>
          <p:cNvCxnSpPr>
            <a:cxnSpLocks/>
            <a:stCxn id="35" idx="2"/>
            <a:endCxn id="91" idx="0"/>
          </p:cNvCxnSpPr>
          <p:nvPr/>
        </p:nvCxnSpPr>
        <p:spPr>
          <a:xfrm flipH="1">
            <a:off x="2931411" y="3155569"/>
            <a:ext cx="8086" cy="475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B86B26A-A6EB-1BDA-2CF5-02AD8B2FD052}"/>
              </a:ext>
            </a:extLst>
          </p:cNvPr>
          <p:cNvCxnSpPr>
            <a:cxnSpLocks/>
            <a:stCxn id="91" idx="2"/>
            <a:endCxn id="90" idx="0"/>
          </p:cNvCxnSpPr>
          <p:nvPr/>
        </p:nvCxnSpPr>
        <p:spPr>
          <a:xfrm>
            <a:off x="2931411" y="4264702"/>
            <a:ext cx="8810" cy="426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Flowchart: Process 116">
            <a:extLst>
              <a:ext uri="{FF2B5EF4-FFF2-40B4-BE49-F238E27FC236}">
                <a16:creationId xmlns:a16="http://schemas.microsoft.com/office/drawing/2014/main" id="{9F70D231-88F5-D06A-DB4C-3D1B9FE2B8DA}"/>
              </a:ext>
            </a:extLst>
          </p:cNvPr>
          <p:cNvSpPr/>
          <p:nvPr/>
        </p:nvSpPr>
        <p:spPr>
          <a:xfrm>
            <a:off x="2204279" y="5800583"/>
            <a:ext cx="1412038" cy="811860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900" b="1" dirty="0"/>
              <a:t>Processed Data: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sz="900" dirty="0"/>
              <a:t>All species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sz="900" dirty="0"/>
              <a:t>Habitat specialists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sz="900" dirty="0"/>
              <a:t>Wider countryside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ECCDDA4D-E28B-8DE0-56BA-2435688E7134}"/>
              </a:ext>
            </a:extLst>
          </p:cNvPr>
          <p:cNvCxnSpPr>
            <a:cxnSpLocks/>
            <a:stCxn id="90" idx="2"/>
            <a:endCxn id="117" idx="0"/>
          </p:cNvCxnSpPr>
          <p:nvPr/>
        </p:nvCxnSpPr>
        <p:spPr>
          <a:xfrm flipH="1">
            <a:off x="2910298" y="5503310"/>
            <a:ext cx="29923" cy="2972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lowchart: Decision 1">
            <a:extLst>
              <a:ext uri="{FF2B5EF4-FFF2-40B4-BE49-F238E27FC236}">
                <a16:creationId xmlns:a16="http://schemas.microsoft.com/office/drawing/2014/main" id="{3C72174B-535A-74D5-CED7-F9D3B9753812}"/>
              </a:ext>
            </a:extLst>
          </p:cNvPr>
          <p:cNvSpPr/>
          <p:nvPr/>
        </p:nvSpPr>
        <p:spPr>
          <a:xfrm>
            <a:off x="3945291" y="1686592"/>
            <a:ext cx="1198364" cy="678063"/>
          </a:xfrm>
          <a:prstGeom prst="flowChartDecision">
            <a:avLst/>
          </a:prstGeom>
          <a:ln>
            <a:solidFill>
              <a:srgbClr val="7030A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rgbClr val="7030A0"/>
                </a:solidFill>
              </a:rPr>
              <a:t>10_GAM_compare_family_analyses.Rmd</a:t>
            </a:r>
            <a:endParaRPr lang="en-ZA" sz="600" dirty="0">
              <a:solidFill>
                <a:srgbClr val="7030A0"/>
              </a:solidFill>
            </a:endParaRPr>
          </a:p>
        </p:txBody>
      </p:sp>
      <p:sp>
        <p:nvSpPr>
          <p:cNvPr id="3" name="Flowchart: Decision 2">
            <a:extLst>
              <a:ext uri="{FF2B5EF4-FFF2-40B4-BE49-F238E27FC236}">
                <a16:creationId xmlns:a16="http://schemas.microsoft.com/office/drawing/2014/main" id="{91887909-5252-D5C7-3D55-AD3665843605}"/>
              </a:ext>
            </a:extLst>
          </p:cNvPr>
          <p:cNvSpPr/>
          <p:nvPr/>
        </p:nvSpPr>
        <p:spPr>
          <a:xfrm>
            <a:off x="7217403" y="5034421"/>
            <a:ext cx="1198364" cy="678063"/>
          </a:xfrm>
          <a:prstGeom prst="flowChartDecision">
            <a:avLst/>
          </a:prstGeom>
          <a:ln>
            <a:solidFill>
              <a:srgbClr val="7030A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rgbClr val="7030A0"/>
                </a:solidFill>
              </a:rPr>
              <a:t>8_MSGDM_multipanel_plot.Rmd</a:t>
            </a:r>
            <a:endParaRPr lang="en-ZA" sz="600" dirty="0">
              <a:solidFill>
                <a:srgbClr val="7030A0"/>
              </a:solidFill>
            </a:endParaRPr>
          </a:p>
        </p:txBody>
      </p:sp>
      <p:sp>
        <p:nvSpPr>
          <p:cNvPr id="6" name="Flowchart: Decision 5">
            <a:extLst>
              <a:ext uri="{FF2B5EF4-FFF2-40B4-BE49-F238E27FC236}">
                <a16:creationId xmlns:a16="http://schemas.microsoft.com/office/drawing/2014/main" id="{BF7FD13F-1FAE-268A-2393-8D0FA0516258}"/>
              </a:ext>
            </a:extLst>
          </p:cNvPr>
          <p:cNvSpPr/>
          <p:nvPr/>
        </p:nvSpPr>
        <p:spPr>
          <a:xfrm>
            <a:off x="3952658" y="5132254"/>
            <a:ext cx="1198364" cy="678063"/>
          </a:xfrm>
          <a:prstGeom prst="flowChartDecision">
            <a:avLst/>
          </a:prstGeom>
          <a:ln>
            <a:solidFill>
              <a:srgbClr val="7030A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rgbClr val="7030A0"/>
                </a:solidFill>
              </a:rPr>
              <a:t>7_Zeta_msgdm_change</a:t>
            </a:r>
            <a:r>
              <a:rPr lang="en-US" sz="600">
                <a:solidFill>
                  <a:srgbClr val="7030A0"/>
                </a:solidFill>
              </a:rPr>
              <a:t>_seed_analyses</a:t>
            </a:r>
            <a:endParaRPr lang="en-ZA" sz="600" dirty="0">
              <a:solidFill>
                <a:srgbClr val="7030A0"/>
              </a:solidFill>
            </a:endParaRPr>
          </a:p>
        </p:txBody>
      </p: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D6E13F6B-AAB3-6A72-FE83-B7523C293D12}"/>
              </a:ext>
            </a:extLst>
          </p:cNvPr>
          <p:cNvSpPr/>
          <p:nvPr/>
        </p:nvSpPr>
        <p:spPr>
          <a:xfrm>
            <a:off x="6335707" y="4434806"/>
            <a:ext cx="1198364" cy="678063"/>
          </a:xfrm>
          <a:prstGeom prst="flowChartDecis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err="1"/>
              <a:t>Occupancy_analyses</a:t>
            </a:r>
            <a:endParaRPr lang="en-ZA" sz="600" dirty="0"/>
          </a:p>
        </p:txBody>
      </p:sp>
      <p:sp>
        <p:nvSpPr>
          <p:cNvPr id="10" name="Flowchart: Decision 9">
            <a:extLst>
              <a:ext uri="{FF2B5EF4-FFF2-40B4-BE49-F238E27FC236}">
                <a16:creationId xmlns:a16="http://schemas.microsoft.com/office/drawing/2014/main" id="{ABDCC353-115F-85A6-55BF-A54512959EA8}"/>
              </a:ext>
            </a:extLst>
          </p:cNvPr>
          <p:cNvSpPr/>
          <p:nvPr/>
        </p:nvSpPr>
        <p:spPr>
          <a:xfrm>
            <a:off x="6162243" y="5775710"/>
            <a:ext cx="1198364" cy="678063"/>
          </a:xfrm>
          <a:prstGeom prst="flowChartDecision">
            <a:avLst/>
          </a:prstGeom>
          <a:ln>
            <a:solidFill>
              <a:srgbClr val="7030A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rgbClr val="7030A0"/>
                </a:solidFill>
              </a:rPr>
              <a:t>6_Zeta_declines_deacys_analyses.Rmd</a:t>
            </a:r>
            <a:endParaRPr lang="en-ZA" sz="600" dirty="0">
              <a:solidFill>
                <a:srgbClr val="7030A0"/>
              </a:solidFill>
            </a:endParaRPr>
          </a:p>
        </p:txBody>
      </p:sp>
      <p:sp>
        <p:nvSpPr>
          <p:cNvPr id="11" name="Flowchart: Decision 10">
            <a:extLst>
              <a:ext uri="{FF2B5EF4-FFF2-40B4-BE49-F238E27FC236}">
                <a16:creationId xmlns:a16="http://schemas.microsoft.com/office/drawing/2014/main" id="{14364913-0635-C6AB-5221-029BED38B0A7}"/>
              </a:ext>
            </a:extLst>
          </p:cNvPr>
          <p:cNvSpPr/>
          <p:nvPr/>
        </p:nvSpPr>
        <p:spPr>
          <a:xfrm>
            <a:off x="10200595" y="4704129"/>
            <a:ext cx="1188223" cy="484000"/>
          </a:xfrm>
          <a:prstGeom prst="flowChartDecis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600" dirty="0" err="1"/>
              <a:t>generate_code_chunks_for_supp_report</a:t>
            </a:r>
            <a:r>
              <a:rPr lang="en-US" sz="600" dirty="0"/>
              <a:t>.</a:t>
            </a:r>
            <a:r>
              <a:rPr lang="en-US" sz="600" dirty="0" err="1"/>
              <a:t>Rmd</a:t>
            </a:r>
            <a:endParaRPr lang="en-ZA" sz="600" dirty="0"/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310CEE41-7F86-9634-15F0-2B704D38084F}"/>
              </a:ext>
            </a:extLst>
          </p:cNvPr>
          <p:cNvSpPr/>
          <p:nvPr/>
        </p:nvSpPr>
        <p:spPr>
          <a:xfrm>
            <a:off x="11257012" y="4078523"/>
            <a:ext cx="871372" cy="533201"/>
          </a:xfrm>
          <a:prstGeom prst="flowChartProcess">
            <a:avLst/>
          </a:prstGeom>
          <a:solidFill>
            <a:srgbClr val="00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900" dirty="0"/>
              <a:t>Results Markdown Report</a:t>
            </a:r>
          </a:p>
          <a:p>
            <a:pPr algn="ctr"/>
            <a:endParaRPr lang="en-ZA" sz="900" dirty="0"/>
          </a:p>
        </p:txBody>
      </p:sp>
      <p:sp>
        <p:nvSpPr>
          <p:cNvPr id="25" name="Flowchart: Process 24">
            <a:extLst>
              <a:ext uri="{FF2B5EF4-FFF2-40B4-BE49-F238E27FC236}">
                <a16:creationId xmlns:a16="http://schemas.microsoft.com/office/drawing/2014/main" id="{D00F3089-D084-30FC-5896-D00F781FDFD3}"/>
              </a:ext>
            </a:extLst>
          </p:cNvPr>
          <p:cNvSpPr/>
          <p:nvPr/>
        </p:nvSpPr>
        <p:spPr>
          <a:xfrm>
            <a:off x="4737995" y="4175519"/>
            <a:ext cx="882106" cy="557777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600" dirty="0"/>
              <a:t>GAMM output</a:t>
            </a:r>
          </a:p>
          <a:p>
            <a:pPr algn="ctr"/>
            <a:r>
              <a:rPr lang="en-US" sz="600" dirty="0"/>
              <a:t>…</a:t>
            </a:r>
            <a:r>
              <a:rPr lang="en-US" sz="600" dirty="0" err="1"/>
              <a:t>gamm_cor_struct_compare.rds</a:t>
            </a:r>
            <a:endParaRPr lang="en-ZA" sz="600" dirty="0"/>
          </a:p>
          <a:p>
            <a:pPr algn="ctr"/>
            <a:endParaRPr lang="en-ZA" sz="600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00374F4-B1E8-F0F4-07FD-0353BC6BCFA5}"/>
              </a:ext>
            </a:extLst>
          </p:cNvPr>
          <p:cNvCxnSpPr>
            <a:cxnSpLocks/>
            <a:stCxn id="75" idx="3"/>
            <a:endCxn id="25" idx="0"/>
          </p:cNvCxnSpPr>
          <p:nvPr/>
        </p:nvCxnSpPr>
        <p:spPr>
          <a:xfrm>
            <a:off x="5164561" y="3731639"/>
            <a:ext cx="14487" cy="443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35214D3-8CBA-77F0-9A80-2F74313564A8}"/>
              </a:ext>
            </a:extLst>
          </p:cNvPr>
          <p:cNvCxnSpPr>
            <a:cxnSpLocks/>
            <a:stCxn id="25" idx="3"/>
            <a:endCxn id="9" idx="1"/>
          </p:cNvCxnSpPr>
          <p:nvPr/>
        </p:nvCxnSpPr>
        <p:spPr>
          <a:xfrm flipV="1">
            <a:off x="5620101" y="2126982"/>
            <a:ext cx="142931" cy="23274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lowchart: Process 38">
            <a:extLst>
              <a:ext uri="{FF2B5EF4-FFF2-40B4-BE49-F238E27FC236}">
                <a16:creationId xmlns:a16="http://schemas.microsoft.com/office/drawing/2014/main" id="{6348209E-B6A1-9676-A1B8-D72A245A09B9}"/>
              </a:ext>
            </a:extLst>
          </p:cNvPr>
          <p:cNvSpPr/>
          <p:nvPr/>
        </p:nvSpPr>
        <p:spPr>
          <a:xfrm>
            <a:off x="6232948" y="5191318"/>
            <a:ext cx="812638" cy="364271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700" dirty="0" err="1"/>
              <a:t>Msgdm</a:t>
            </a:r>
            <a:r>
              <a:rPr lang="en-ZA" sz="700" dirty="0"/>
              <a:t> output</a:t>
            </a:r>
          </a:p>
          <a:p>
            <a:pPr algn="ctr"/>
            <a:endParaRPr lang="en-ZA" sz="7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E1B6F74-2681-827A-F7CD-3E26946A52EF}"/>
              </a:ext>
            </a:extLst>
          </p:cNvPr>
          <p:cNvCxnSpPr>
            <a:cxnSpLocks/>
            <a:stCxn id="6" idx="3"/>
            <a:endCxn id="39" idx="1"/>
          </p:cNvCxnSpPr>
          <p:nvPr/>
        </p:nvCxnSpPr>
        <p:spPr>
          <a:xfrm flipV="1">
            <a:off x="5151022" y="5373454"/>
            <a:ext cx="1081926" cy="97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25E58FE-2A86-9221-80CB-B73A3F2D8E82}"/>
              </a:ext>
            </a:extLst>
          </p:cNvPr>
          <p:cNvCxnSpPr>
            <a:cxnSpLocks/>
            <a:stCxn id="39" idx="3"/>
            <a:endCxn id="3" idx="0"/>
          </p:cNvCxnSpPr>
          <p:nvPr/>
        </p:nvCxnSpPr>
        <p:spPr>
          <a:xfrm flipV="1">
            <a:off x="7045586" y="5034421"/>
            <a:ext cx="770999" cy="3390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lowchart: Decision 74">
            <a:extLst>
              <a:ext uri="{FF2B5EF4-FFF2-40B4-BE49-F238E27FC236}">
                <a16:creationId xmlns:a16="http://schemas.microsoft.com/office/drawing/2014/main" id="{7C93B17A-EF2D-AB60-2BDF-DD00A8440548}"/>
              </a:ext>
            </a:extLst>
          </p:cNvPr>
          <p:cNvSpPr/>
          <p:nvPr/>
        </p:nvSpPr>
        <p:spPr>
          <a:xfrm>
            <a:off x="3966197" y="3392607"/>
            <a:ext cx="1198364" cy="678063"/>
          </a:xfrm>
          <a:prstGeom prst="flowChartDecis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12_GAMM_compare_corstructs_analyses.Rmd</a:t>
            </a:r>
            <a:endParaRPr lang="en-ZA" sz="600" dirty="0"/>
          </a:p>
        </p:txBody>
      </p:sp>
      <p:sp>
        <p:nvSpPr>
          <p:cNvPr id="83" name="Right Brace 82">
            <a:extLst>
              <a:ext uri="{FF2B5EF4-FFF2-40B4-BE49-F238E27FC236}">
                <a16:creationId xmlns:a16="http://schemas.microsoft.com/office/drawing/2014/main" id="{2B5C80FE-1B9A-1684-18D4-4E8E4617C5B2}"/>
              </a:ext>
            </a:extLst>
          </p:cNvPr>
          <p:cNvSpPr/>
          <p:nvPr/>
        </p:nvSpPr>
        <p:spPr>
          <a:xfrm>
            <a:off x="1932054" y="1555832"/>
            <a:ext cx="197167" cy="499312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4" name="Right Brace 83">
            <a:extLst>
              <a:ext uri="{FF2B5EF4-FFF2-40B4-BE49-F238E27FC236}">
                <a16:creationId xmlns:a16="http://schemas.microsoft.com/office/drawing/2014/main" id="{0D80A934-3BE1-7B69-086F-B46C1B7A40F3}"/>
              </a:ext>
            </a:extLst>
          </p:cNvPr>
          <p:cNvSpPr/>
          <p:nvPr/>
        </p:nvSpPr>
        <p:spPr>
          <a:xfrm flipH="1">
            <a:off x="547563" y="1453452"/>
            <a:ext cx="253745" cy="494236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1878AD75-D04C-1B63-8C6D-C47AD3E33CC7}"/>
              </a:ext>
            </a:extLst>
          </p:cNvPr>
          <p:cNvCxnSpPr>
            <a:cxnSpLocks/>
            <a:stCxn id="99" idx="2"/>
          </p:cNvCxnSpPr>
          <p:nvPr/>
        </p:nvCxnSpPr>
        <p:spPr>
          <a:xfrm rot="16200000" flipH="1">
            <a:off x="-983646" y="2382425"/>
            <a:ext cx="3034529" cy="4989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Flowchart: Multidocument 98">
            <a:extLst>
              <a:ext uri="{FF2B5EF4-FFF2-40B4-BE49-F238E27FC236}">
                <a16:creationId xmlns:a16="http://schemas.microsoft.com/office/drawing/2014/main" id="{D4935DE2-97C0-4A63-77EA-6AE5BF0AD650}"/>
              </a:ext>
            </a:extLst>
          </p:cNvPr>
          <p:cNvSpPr/>
          <p:nvPr/>
        </p:nvSpPr>
        <p:spPr>
          <a:xfrm>
            <a:off x="101256" y="164726"/>
            <a:ext cx="946463" cy="753933"/>
          </a:xfrm>
          <a:prstGeom prst="flowChartMultidocumen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Other Projects</a:t>
            </a:r>
            <a:endParaRPr lang="en-ZA" sz="1200" dirty="0">
              <a:solidFill>
                <a:schemeClr val="tx1"/>
              </a:solidFill>
            </a:endParaRPr>
          </a:p>
          <a:p>
            <a:pPr algn="ctr"/>
            <a:endParaRPr lang="en-ZA" sz="1200" dirty="0">
              <a:solidFill>
                <a:schemeClr val="tx1"/>
              </a:solidFill>
            </a:endParaRP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3C8466C8-1A47-0A73-D65A-44EB43857242}"/>
              </a:ext>
            </a:extLst>
          </p:cNvPr>
          <p:cNvCxnSpPr>
            <a:cxnSpLocks/>
            <a:stCxn id="83" idx="1"/>
            <a:endCxn id="91" idx="1"/>
          </p:cNvCxnSpPr>
          <p:nvPr/>
        </p:nvCxnSpPr>
        <p:spPr>
          <a:xfrm flipV="1">
            <a:off x="2129221" y="3947972"/>
            <a:ext cx="470399" cy="1044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Right Brace 176">
            <a:extLst>
              <a:ext uri="{FF2B5EF4-FFF2-40B4-BE49-F238E27FC236}">
                <a16:creationId xmlns:a16="http://schemas.microsoft.com/office/drawing/2014/main" id="{0908F59F-853B-1953-628B-0AAE71C8D207}"/>
              </a:ext>
            </a:extLst>
          </p:cNvPr>
          <p:cNvSpPr/>
          <p:nvPr/>
        </p:nvSpPr>
        <p:spPr>
          <a:xfrm flipH="1">
            <a:off x="3771346" y="1490170"/>
            <a:ext cx="98609" cy="497017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3549404B-6867-BA5D-1B57-24811C89B570}"/>
              </a:ext>
            </a:extLst>
          </p:cNvPr>
          <p:cNvCxnSpPr>
            <a:cxnSpLocks/>
            <a:stCxn id="91" idx="3"/>
            <a:endCxn id="177" idx="1"/>
          </p:cNvCxnSpPr>
          <p:nvPr/>
        </p:nvCxnSpPr>
        <p:spPr>
          <a:xfrm>
            <a:off x="3263202" y="3947972"/>
            <a:ext cx="508144" cy="27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19DEEF78-4886-270A-1EA5-8ACD6596BAB5}"/>
              </a:ext>
            </a:extLst>
          </p:cNvPr>
          <p:cNvCxnSpPr>
            <a:cxnSpLocks/>
            <a:stCxn id="11" idx="0"/>
            <a:endCxn id="23" idx="1"/>
          </p:cNvCxnSpPr>
          <p:nvPr/>
        </p:nvCxnSpPr>
        <p:spPr>
          <a:xfrm flipH="1" flipV="1">
            <a:off x="10135468" y="4288647"/>
            <a:ext cx="659239" cy="4154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Flowchart: Decision 192">
            <a:extLst>
              <a:ext uri="{FF2B5EF4-FFF2-40B4-BE49-F238E27FC236}">
                <a16:creationId xmlns:a16="http://schemas.microsoft.com/office/drawing/2014/main" id="{62FCC02E-E9B8-2148-1921-E4763D58CBC4}"/>
              </a:ext>
            </a:extLst>
          </p:cNvPr>
          <p:cNvSpPr/>
          <p:nvPr/>
        </p:nvSpPr>
        <p:spPr>
          <a:xfrm>
            <a:off x="5709598" y="652786"/>
            <a:ext cx="1188222" cy="811860"/>
          </a:xfrm>
          <a:prstGeom prst="flowChartDecision">
            <a:avLst/>
          </a:prstGeom>
          <a:solidFill>
            <a:srgbClr val="7030A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5_Run_zeta_msgdm.Rmd</a:t>
            </a:r>
            <a:endParaRPr lang="en-ZA" sz="800" dirty="0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911AA6C2-F908-8AF9-B933-AC265BFB92C0}"/>
              </a:ext>
            </a:extLst>
          </p:cNvPr>
          <p:cNvSpPr txBox="1"/>
          <p:nvPr/>
        </p:nvSpPr>
        <p:spPr>
          <a:xfrm>
            <a:off x="5411086" y="1456523"/>
            <a:ext cx="2180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This runs  scripts shown in diamonds with purple text and outline</a:t>
            </a:r>
            <a:endParaRPr lang="en-ZA" sz="900" dirty="0"/>
          </a:p>
        </p:txBody>
      </p:sp>
      <p:sp>
        <p:nvSpPr>
          <p:cNvPr id="195" name="Flowchart: Multidocument 194">
            <a:extLst>
              <a:ext uri="{FF2B5EF4-FFF2-40B4-BE49-F238E27FC236}">
                <a16:creationId xmlns:a16="http://schemas.microsoft.com/office/drawing/2014/main" id="{31D9BBDF-957E-5A91-0C70-5969E77E6834}"/>
              </a:ext>
            </a:extLst>
          </p:cNvPr>
          <p:cNvSpPr/>
          <p:nvPr/>
        </p:nvSpPr>
        <p:spPr>
          <a:xfrm>
            <a:off x="8900639" y="173365"/>
            <a:ext cx="946463" cy="1066884"/>
          </a:xfrm>
          <a:prstGeom prst="flowChartMultidocumen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Figure and table files</a:t>
            </a:r>
            <a:endParaRPr lang="en-ZA" sz="1200" dirty="0">
              <a:solidFill>
                <a:schemeClr val="tx1"/>
              </a:solidFill>
            </a:endParaRPr>
          </a:p>
          <a:p>
            <a:pPr algn="ctr"/>
            <a:endParaRPr lang="en-ZA" sz="1200" dirty="0">
              <a:solidFill>
                <a:schemeClr val="tx1"/>
              </a:solidFill>
            </a:endParaRPr>
          </a:p>
        </p:txBody>
      </p:sp>
      <p:sp>
        <p:nvSpPr>
          <p:cNvPr id="202" name="Flowchart: Decision 201">
            <a:extLst>
              <a:ext uri="{FF2B5EF4-FFF2-40B4-BE49-F238E27FC236}">
                <a16:creationId xmlns:a16="http://schemas.microsoft.com/office/drawing/2014/main" id="{1C9B3EAA-ABA9-B9FF-FDD7-3D53CB06203D}"/>
              </a:ext>
            </a:extLst>
          </p:cNvPr>
          <p:cNvSpPr/>
          <p:nvPr/>
        </p:nvSpPr>
        <p:spPr>
          <a:xfrm>
            <a:off x="11180784" y="3257666"/>
            <a:ext cx="927306" cy="747151"/>
          </a:xfrm>
          <a:prstGeom prst="flowChartDecis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500" dirty="0" err="1"/>
              <a:t>butterfly_msgdm_tables_figures_report.Rmd</a:t>
            </a:r>
            <a:endParaRPr lang="en-ZA" sz="500" dirty="0"/>
          </a:p>
        </p:txBody>
      </p:sp>
      <p:sp>
        <p:nvSpPr>
          <p:cNvPr id="206" name="Flowchart: Decision 205">
            <a:extLst>
              <a:ext uri="{FF2B5EF4-FFF2-40B4-BE49-F238E27FC236}">
                <a16:creationId xmlns:a16="http://schemas.microsoft.com/office/drawing/2014/main" id="{86F3F3DC-B855-9CDD-E579-A36272F9FFA0}"/>
              </a:ext>
            </a:extLst>
          </p:cNvPr>
          <p:cNvSpPr/>
          <p:nvPr/>
        </p:nvSpPr>
        <p:spPr>
          <a:xfrm>
            <a:off x="7399453" y="1332141"/>
            <a:ext cx="1099188" cy="601233"/>
          </a:xfrm>
          <a:prstGeom prst="flowChartDecis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700" dirty="0"/>
              <a:t>3</a:t>
            </a:r>
            <a:r>
              <a:rPr lang="en-ZA" sz="700"/>
              <a:t>_butterflies_</a:t>
            </a:r>
            <a:r>
              <a:rPr lang="en-ZA" sz="700" dirty="0"/>
              <a:t>maps.Rmd</a:t>
            </a:r>
          </a:p>
        </p:txBody>
      </p: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DE123E45-1DF5-0235-AFD9-DAEC9A90FF0E}"/>
              </a:ext>
            </a:extLst>
          </p:cNvPr>
          <p:cNvCxnSpPr>
            <a:cxnSpLocks/>
            <a:stCxn id="202" idx="2"/>
            <a:endCxn id="16" idx="0"/>
          </p:cNvCxnSpPr>
          <p:nvPr/>
        </p:nvCxnSpPr>
        <p:spPr>
          <a:xfrm>
            <a:off x="11644437" y="4004817"/>
            <a:ext cx="48261" cy="737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lowchart: Decision 16">
            <a:extLst>
              <a:ext uri="{FF2B5EF4-FFF2-40B4-BE49-F238E27FC236}">
                <a16:creationId xmlns:a16="http://schemas.microsoft.com/office/drawing/2014/main" id="{ECA44BFA-BA3E-6A43-959C-AF6314590471}"/>
              </a:ext>
            </a:extLst>
          </p:cNvPr>
          <p:cNvSpPr/>
          <p:nvPr/>
        </p:nvSpPr>
        <p:spPr>
          <a:xfrm>
            <a:off x="10898270" y="1691702"/>
            <a:ext cx="1019085" cy="585482"/>
          </a:xfrm>
          <a:prstGeom prst="flowChartDecis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 </a:t>
            </a:r>
            <a:r>
              <a:rPr lang="en-US" sz="600" dirty="0" err="1"/>
              <a:t>maintext</a:t>
            </a:r>
            <a:r>
              <a:rPr lang="en-US" sz="600" dirty="0"/>
              <a:t> display</a:t>
            </a:r>
            <a:endParaRPr lang="en-ZA" sz="600" dirty="0"/>
          </a:p>
        </p:txBody>
      </p:sp>
      <p:sp>
        <p:nvSpPr>
          <p:cNvPr id="22" name="Flowchart: Decision 21">
            <a:extLst>
              <a:ext uri="{FF2B5EF4-FFF2-40B4-BE49-F238E27FC236}">
                <a16:creationId xmlns:a16="http://schemas.microsoft.com/office/drawing/2014/main" id="{A43D6DF6-59D6-11EA-8B30-D1877EAF42ED}"/>
              </a:ext>
            </a:extLst>
          </p:cNvPr>
          <p:cNvSpPr/>
          <p:nvPr/>
        </p:nvSpPr>
        <p:spPr>
          <a:xfrm>
            <a:off x="10407846" y="2416110"/>
            <a:ext cx="1019085" cy="585482"/>
          </a:xfrm>
          <a:prstGeom prst="flowChartDecis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2 data proc occ supp</a:t>
            </a:r>
            <a:endParaRPr lang="en-ZA" sz="600" dirty="0"/>
          </a:p>
        </p:txBody>
      </p:sp>
      <p:sp>
        <p:nvSpPr>
          <p:cNvPr id="23" name="Flowchart: Decision 22">
            <a:extLst>
              <a:ext uri="{FF2B5EF4-FFF2-40B4-BE49-F238E27FC236}">
                <a16:creationId xmlns:a16="http://schemas.microsoft.com/office/drawing/2014/main" id="{3C1FE822-BB2C-035D-E698-95E1D50BA6A1}"/>
              </a:ext>
            </a:extLst>
          </p:cNvPr>
          <p:cNvSpPr/>
          <p:nvPr/>
        </p:nvSpPr>
        <p:spPr>
          <a:xfrm>
            <a:off x="10135468" y="3995906"/>
            <a:ext cx="1019085" cy="585482"/>
          </a:xfrm>
          <a:prstGeom prst="flowChartDecis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3 richness supp</a:t>
            </a:r>
            <a:endParaRPr lang="en-ZA" sz="600" dirty="0"/>
          </a:p>
        </p:txBody>
      </p:sp>
      <p:sp>
        <p:nvSpPr>
          <p:cNvPr id="24" name="Flowchart: Decision 23">
            <a:extLst>
              <a:ext uri="{FF2B5EF4-FFF2-40B4-BE49-F238E27FC236}">
                <a16:creationId xmlns:a16="http://schemas.microsoft.com/office/drawing/2014/main" id="{CF27A413-A028-4204-4ACA-A6CF5D264854}"/>
              </a:ext>
            </a:extLst>
          </p:cNvPr>
          <p:cNvSpPr/>
          <p:nvPr/>
        </p:nvSpPr>
        <p:spPr>
          <a:xfrm>
            <a:off x="10625352" y="5180015"/>
            <a:ext cx="1019085" cy="585482"/>
          </a:xfrm>
          <a:prstGeom prst="flowChartDecis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4 zeta dec supp</a:t>
            </a:r>
            <a:endParaRPr lang="en-ZA" sz="600" dirty="0"/>
          </a:p>
        </p:txBody>
      </p:sp>
      <p:sp>
        <p:nvSpPr>
          <p:cNvPr id="38" name="Flowchart: Decision 37">
            <a:extLst>
              <a:ext uri="{FF2B5EF4-FFF2-40B4-BE49-F238E27FC236}">
                <a16:creationId xmlns:a16="http://schemas.microsoft.com/office/drawing/2014/main" id="{B4BBD7DC-9A75-CD72-6F95-BB70A189230A}"/>
              </a:ext>
            </a:extLst>
          </p:cNvPr>
          <p:cNvSpPr/>
          <p:nvPr/>
        </p:nvSpPr>
        <p:spPr>
          <a:xfrm>
            <a:off x="10982569" y="5940528"/>
            <a:ext cx="1019085" cy="585482"/>
          </a:xfrm>
          <a:prstGeom prst="flowChartDecis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5 </a:t>
            </a:r>
            <a:r>
              <a:rPr lang="en-US" sz="600" dirty="0" err="1"/>
              <a:t>msgdm</a:t>
            </a:r>
            <a:r>
              <a:rPr lang="en-US" sz="600" dirty="0"/>
              <a:t> supp</a:t>
            </a:r>
            <a:endParaRPr lang="en-ZA" sz="600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47F30FB-1B91-8E60-F6E9-5F2AE119ED66}"/>
              </a:ext>
            </a:extLst>
          </p:cNvPr>
          <p:cNvCxnSpPr>
            <a:cxnSpLocks/>
            <a:stCxn id="17" idx="3"/>
            <a:endCxn id="202" idx="1"/>
          </p:cNvCxnSpPr>
          <p:nvPr/>
        </p:nvCxnSpPr>
        <p:spPr>
          <a:xfrm flipH="1">
            <a:off x="11180784" y="1984443"/>
            <a:ext cx="736571" cy="16467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559B6B5-BA6E-3DB5-957A-742FB7757DC3}"/>
              </a:ext>
            </a:extLst>
          </p:cNvPr>
          <p:cNvCxnSpPr>
            <a:cxnSpLocks/>
            <a:stCxn id="23" idx="3"/>
            <a:endCxn id="202" idx="1"/>
          </p:cNvCxnSpPr>
          <p:nvPr/>
        </p:nvCxnSpPr>
        <p:spPr>
          <a:xfrm flipV="1">
            <a:off x="11154553" y="3631242"/>
            <a:ext cx="26231" cy="6574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964EB87-D675-0C54-FA75-583010EF91D1}"/>
              </a:ext>
            </a:extLst>
          </p:cNvPr>
          <p:cNvCxnSpPr>
            <a:cxnSpLocks/>
            <a:stCxn id="22" idx="2"/>
            <a:endCxn id="202" idx="1"/>
          </p:cNvCxnSpPr>
          <p:nvPr/>
        </p:nvCxnSpPr>
        <p:spPr>
          <a:xfrm>
            <a:off x="10917389" y="3001592"/>
            <a:ext cx="263395" cy="629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58381AD-B682-1222-9B76-644285E3134C}"/>
              </a:ext>
            </a:extLst>
          </p:cNvPr>
          <p:cNvCxnSpPr>
            <a:cxnSpLocks/>
            <a:stCxn id="24" idx="3"/>
            <a:endCxn id="202" idx="1"/>
          </p:cNvCxnSpPr>
          <p:nvPr/>
        </p:nvCxnSpPr>
        <p:spPr>
          <a:xfrm flipH="1" flipV="1">
            <a:off x="11180784" y="3631242"/>
            <a:ext cx="463653" cy="1841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0084AF2-7B38-E6DC-3C02-C07043380A61}"/>
              </a:ext>
            </a:extLst>
          </p:cNvPr>
          <p:cNvCxnSpPr>
            <a:cxnSpLocks/>
            <a:stCxn id="38" idx="3"/>
            <a:endCxn id="202" idx="1"/>
          </p:cNvCxnSpPr>
          <p:nvPr/>
        </p:nvCxnSpPr>
        <p:spPr>
          <a:xfrm flipH="1" flipV="1">
            <a:off x="11180784" y="3631242"/>
            <a:ext cx="820870" cy="26020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Flowchart: Document 80">
            <a:extLst>
              <a:ext uri="{FF2B5EF4-FFF2-40B4-BE49-F238E27FC236}">
                <a16:creationId xmlns:a16="http://schemas.microsoft.com/office/drawing/2014/main" id="{C8205EAA-A50D-EE98-A0AA-D4EF49011DD5}"/>
              </a:ext>
            </a:extLst>
          </p:cNvPr>
          <p:cNvSpPr/>
          <p:nvPr/>
        </p:nvSpPr>
        <p:spPr>
          <a:xfrm>
            <a:off x="8849592" y="1490170"/>
            <a:ext cx="928789" cy="385278"/>
          </a:xfrm>
          <a:prstGeom prst="flowChartDocumen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" dirty="0" err="1"/>
              <a:t>Gamm_multipanel_figFig</a:t>
            </a:r>
            <a:r>
              <a:rPr lang="en-US" sz="500" dirty="0"/>
              <a:t>. 1 Hex_dens_transects_richness.png</a:t>
            </a:r>
          </a:p>
          <a:p>
            <a:pPr algn="ctr"/>
            <a:r>
              <a:rPr lang="en-ZA" sz="500" dirty="0"/>
              <a:t>Fig: S1.1 all_env_vars.png</a:t>
            </a: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1ACB76FB-C66D-1837-5213-4E390263AFEE}"/>
              </a:ext>
            </a:extLst>
          </p:cNvPr>
          <p:cNvCxnSpPr>
            <a:cxnSpLocks/>
            <a:stCxn id="206" idx="3"/>
            <a:endCxn id="81" idx="1"/>
          </p:cNvCxnSpPr>
          <p:nvPr/>
        </p:nvCxnSpPr>
        <p:spPr>
          <a:xfrm>
            <a:off x="8498641" y="1632758"/>
            <a:ext cx="350951" cy="500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7DA80BF1-5CC9-E4BA-6747-BBF3ED611F10}"/>
              </a:ext>
            </a:extLst>
          </p:cNvPr>
          <p:cNvCxnSpPr>
            <a:cxnSpLocks/>
            <a:stCxn id="81" idx="3"/>
            <a:endCxn id="17" idx="1"/>
          </p:cNvCxnSpPr>
          <p:nvPr/>
        </p:nvCxnSpPr>
        <p:spPr>
          <a:xfrm>
            <a:off x="9778381" y="1682809"/>
            <a:ext cx="1119889" cy="301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Flowchart: Decision 162">
            <a:extLst>
              <a:ext uri="{FF2B5EF4-FFF2-40B4-BE49-F238E27FC236}">
                <a16:creationId xmlns:a16="http://schemas.microsoft.com/office/drawing/2014/main" id="{0C1C90BF-A448-45EF-7D27-8F0D8D3A6759}"/>
              </a:ext>
            </a:extLst>
          </p:cNvPr>
          <p:cNvSpPr/>
          <p:nvPr/>
        </p:nvSpPr>
        <p:spPr>
          <a:xfrm>
            <a:off x="7399453" y="2027529"/>
            <a:ext cx="1099188" cy="601233"/>
          </a:xfrm>
          <a:prstGeom prst="flowChartDecis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700" dirty="0" err="1"/>
              <a:t>Gamm_multipanel_fig.Rmd</a:t>
            </a:r>
            <a:endParaRPr lang="en-ZA" sz="700" dirty="0"/>
          </a:p>
        </p:txBody>
      </p:sp>
      <p:sp>
        <p:nvSpPr>
          <p:cNvPr id="164" name="Flowchart: Document 163">
            <a:extLst>
              <a:ext uri="{FF2B5EF4-FFF2-40B4-BE49-F238E27FC236}">
                <a16:creationId xmlns:a16="http://schemas.microsoft.com/office/drawing/2014/main" id="{BB58F0F7-9298-2A66-FB2D-9E967F9C23BE}"/>
              </a:ext>
            </a:extLst>
          </p:cNvPr>
          <p:cNvSpPr/>
          <p:nvPr/>
        </p:nvSpPr>
        <p:spPr>
          <a:xfrm>
            <a:off x="8849591" y="1990784"/>
            <a:ext cx="928789" cy="385278"/>
          </a:xfrm>
          <a:prstGeom prst="flowChartDocumen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" dirty="0"/>
              <a:t>Fig. 2 gam_multiplot.png</a:t>
            </a:r>
            <a:endParaRPr lang="en-ZA" sz="500" dirty="0"/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E72C594A-A558-2B7A-8F2B-5B3A1786B768}"/>
              </a:ext>
            </a:extLst>
          </p:cNvPr>
          <p:cNvCxnSpPr>
            <a:cxnSpLocks/>
            <a:stCxn id="163" idx="3"/>
            <a:endCxn id="164" idx="1"/>
          </p:cNvCxnSpPr>
          <p:nvPr/>
        </p:nvCxnSpPr>
        <p:spPr>
          <a:xfrm flipV="1">
            <a:off x="8498641" y="2183423"/>
            <a:ext cx="350950" cy="144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4916695C-C3C1-D583-F5FE-131631F95A38}"/>
              </a:ext>
            </a:extLst>
          </p:cNvPr>
          <p:cNvCxnSpPr>
            <a:cxnSpLocks/>
            <a:stCxn id="164" idx="3"/>
            <a:endCxn id="17" idx="1"/>
          </p:cNvCxnSpPr>
          <p:nvPr/>
        </p:nvCxnSpPr>
        <p:spPr>
          <a:xfrm flipV="1">
            <a:off x="9778380" y="1984443"/>
            <a:ext cx="1119890" cy="1989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156E20-5172-EA2E-B720-B43ACC9DAF21}"/>
              </a:ext>
            </a:extLst>
          </p:cNvPr>
          <p:cNvGrpSpPr/>
          <p:nvPr/>
        </p:nvGrpSpPr>
        <p:grpSpPr>
          <a:xfrm>
            <a:off x="3953485" y="2477859"/>
            <a:ext cx="1717444" cy="730009"/>
            <a:chOff x="4079329" y="2889182"/>
            <a:chExt cx="1717444" cy="730009"/>
          </a:xfrm>
        </p:grpSpPr>
        <p:sp>
          <p:nvSpPr>
            <p:cNvPr id="183" name="Flowchart: Decision 182">
              <a:extLst>
                <a:ext uri="{FF2B5EF4-FFF2-40B4-BE49-F238E27FC236}">
                  <a16:creationId xmlns:a16="http://schemas.microsoft.com/office/drawing/2014/main" id="{8A59B1EE-CA44-C203-885D-D564641ABF66}"/>
                </a:ext>
              </a:extLst>
            </p:cNvPr>
            <p:cNvSpPr/>
            <p:nvPr/>
          </p:nvSpPr>
          <p:spPr>
            <a:xfrm>
              <a:off x="4079329" y="2941128"/>
              <a:ext cx="1198364" cy="678063"/>
            </a:xfrm>
            <a:prstGeom prst="flowChartDecision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solidFill>
                    <a:srgbClr val="7030A0"/>
                  </a:solidFill>
                </a:rPr>
                <a:t>11_GAM_compare_spline_analyses.Rmd</a:t>
              </a:r>
              <a:endParaRPr lang="en-ZA" sz="600" dirty="0">
                <a:solidFill>
                  <a:srgbClr val="7030A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38F42A9-E841-6950-909A-64F140F41053}"/>
                </a:ext>
              </a:extLst>
            </p:cNvPr>
            <p:cNvSpPr txBox="1"/>
            <p:nvPr/>
          </p:nvSpPr>
          <p:spPr>
            <a:xfrm>
              <a:off x="5109091" y="2889182"/>
              <a:ext cx="6876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/>
                <a:t>Cited as preliminary, not reported otherwise</a:t>
              </a:r>
              <a:endParaRPr lang="en-ZA" sz="500" dirty="0"/>
            </a:p>
          </p:txBody>
        </p:sp>
      </p:grpSp>
      <p:sp>
        <p:nvSpPr>
          <p:cNvPr id="51" name="Flowchart: Decision 50">
            <a:extLst>
              <a:ext uri="{FF2B5EF4-FFF2-40B4-BE49-F238E27FC236}">
                <a16:creationId xmlns:a16="http://schemas.microsoft.com/office/drawing/2014/main" id="{97AFA0E3-9BA8-D3D7-4152-A23BC3D4ABFD}"/>
              </a:ext>
            </a:extLst>
          </p:cNvPr>
          <p:cNvSpPr/>
          <p:nvPr/>
        </p:nvSpPr>
        <p:spPr>
          <a:xfrm>
            <a:off x="5825751" y="2992949"/>
            <a:ext cx="1198364" cy="678063"/>
          </a:xfrm>
          <a:prstGeom prst="flowChartDecision">
            <a:avLst/>
          </a:prstGeom>
          <a:ln>
            <a:solidFill>
              <a:srgbClr val="7030A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rgbClr val="7030A0"/>
                </a:solidFill>
              </a:rPr>
              <a:t>14_GAMM_model_selection.Rmd</a:t>
            </a:r>
          </a:p>
          <a:p>
            <a:pPr algn="ctr"/>
            <a:r>
              <a:rPr lang="en-US" sz="600" dirty="0">
                <a:solidFill>
                  <a:srgbClr val="7030A0"/>
                </a:solidFill>
              </a:rPr>
              <a:t>(notebook, not report)</a:t>
            </a:r>
            <a:endParaRPr lang="en-ZA" sz="600" dirty="0">
              <a:solidFill>
                <a:srgbClr val="7030A0"/>
              </a:solidFill>
            </a:endParaRPr>
          </a:p>
        </p:txBody>
      </p:sp>
      <p:sp>
        <p:nvSpPr>
          <p:cNvPr id="67" name="Flowchart: Process 66">
            <a:extLst>
              <a:ext uri="{FF2B5EF4-FFF2-40B4-BE49-F238E27FC236}">
                <a16:creationId xmlns:a16="http://schemas.microsoft.com/office/drawing/2014/main" id="{8D8994AA-179A-A277-7D29-E2A310D5B541}"/>
              </a:ext>
            </a:extLst>
          </p:cNvPr>
          <p:cNvSpPr/>
          <p:nvPr/>
        </p:nvSpPr>
        <p:spPr>
          <a:xfrm>
            <a:off x="6587774" y="3878214"/>
            <a:ext cx="882106" cy="374457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…</a:t>
            </a:r>
            <a:r>
              <a:rPr lang="en-US" sz="600" dirty="0" err="1"/>
              <a:t>gamm_model_select</a:t>
            </a:r>
            <a:r>
              <a:rPr lang="en-US" sz="600" dirty="0"/>
              <a:t>_.....</a:t>
            </a:r>
            <a:r>
              <a:rPr lang="en-US" sz="600" dirty="0" err="1"/>
              <a:t>rds</a:t>
            </a:r>
            <a:endParaRPr lang="en-ZA" sz="600" dirty="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07ABBD4-2C6C-2F00-C3C2-EF9BBF69F6A4}"/>
              </a:ext>
            </a:extLst>
          </p:cNvPr>
          <p:cNvCxnSpPr>
            <a:cxnSpLocks/>
            <a:stCxn id="51" idx="3"/>
            <a:endCxn id="67" idx="0"/>
          </p:cNvCxnSpPr>
          <p:nvPr/>
        </p:nvCxnSpPr>
        <p:spPr>
          <a:xfrm>
            <a:off x="7024115" y="3331981"/>
            <a:ext cx="4712" cy="5462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E6A2CDC-4B81-6363-85FD-14FA4A6B51E4}"/>
              </a:ext>
            </a:extLst>
          </p:cNvPr>
          <p:cNvCxnSpPr>
            <a:cxnSpLocks/>
            <a:stCxn id="67" idx="2"/>
            <a:endCxn id="62" idx="0"/>
          </p:cNvCxnSpPr>
          <p:nvPr/>
        </p:nvCxnSpPr>
        <p:spPr>
          <a:xfrm flipV="1">
            <a:off x="7028827" y="3011201"/>
            <a:ext cx="915508" cy="12414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owchart: Decision 61">
            <a:extLst>
              <a:ext uri="{FF2B5EF4-FFF2-40B4-BE49-F238E27FC236}">
                <a16:creationId xmlns:a16="http://schemas.microsoft.com/office/drawing/2014/main" id="{647E868E-C5C1-28BB-C153-B92114470305}"/>
              </a:ext>
            </a:extLst>
          </p:cNvPr>
          <p:cNvSpPr/>
          <p:nvPr/>
        </p:nvSpPr>
        <p:spPr>
          <a:xfrm>
            <a:off x="7345153" y="3011201"/>
            <a:ext cx="1198364" cy="678063"/>
          </a:xfrm>
          <a:prstGeom prst="flowChartDecision">
            <a:avLst/>
          </a:prstGeom>
          <a:ln>
            <a:solidFill>
              <a:srgbClr val="7030A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rgbClr val="7030A0"/>
                </a:solidFill>
              </a:rPr>
              <a:t>15_process</a:t>
            </a:r>
            <a:r>
              <a:rPr lang="en-US" sz="600" dirty="0" err="1">
                <a:solidFill>
                  <a:srgbClr val="7030A0"/>
                </a:solidFill>
              </a:rPr>
              <a:t>_GAMMS_single_result_output.Rmd</a:t>
            </a:r>
            <a:endParaRPr lang="en-ZA" sz="600" dirty="0">
              <a:solidFill>
                <a:srgbClr val="7030A0"/>
              </a:solidFill>
            </a:endParaRPr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1AA0AEFF-E0B5-9C25-05D1-26EBD06E17B4}"/>
              </a:ext>
            </a:extLst>
          </p:cNvPr>
          <p:cNvSpPr/>
          <p:nvPr/>
        </p:nvSpPr>
        <p:spPr>
          <a:xfrm>
            <a:off x="5763032" y="1787950"/>
            <a:ext cx="1198364" cy="678063"/>
          </a:xfrm>
          <a:prstGeom prst="flowChartDecision">
            <a:avLst/>
          </a:prstGeom>
          <a:ln>
            <a:solidFill>
              <a:srgbClr val="7030A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rgbClr val="7030A0"/>
                </a:solidFill>
              </a:rPr>
              <a:t>13_Process_GAMM_analyses.Rmd</a:t>
            </a:r>
            <a:endParaRPr lang="en-ZA" sz="600" dirty="0">
              <a:solidFill>
                <a:srgbClr val="7030A0"/>
              </a:solidFill>
            </a:endParaRPr>
          </a:p>
        </p:txBody>
      </p:sp>
      <p:sp>
        <p:nvSpPr>
          <p:cNvPr id="7" name="Flowchart: Document 6">
            <a:extLst>
              <a:ext uri="{FF2B5EF4-FFF2-40B4-BE49-F238E27FC236}">
                <a16:creationId xmlns:a16="http://schemas.microsoft.com/office/drawing/2014/main" id="{9AEFFEBE-CBE1-A4D4-8ECC-60156AC8FCA4}"/>
              </a:ext>
            </a:extLst>
          </p:cNvPr>
          <p:cNvSpPr/>
          <p:nvPr/>
        </p:nvSpPr>
        <p:spPr>
          <a:xfrm>
            <a:off x="9014949" y="5235550"/>
            <a:ext cx="928789" cy="385278"/>
          </a:xfrm>
          <a:prstGeom prst="flowChartDocumen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" dirty="0"/>
              <a:t>Fig. </a:t>
            </a:r>
            <a:r>
              <a:rPr lang="en-US" sz="500"/>
              <a:t>3 </a:t>
            </a:r>
            <a:r>
              <a:rPr lang="en-US" sz="500" dirty="0"/>
              <a:t>msgdm_multiplot.png</a:t>
            </a:r>
            <a:endParaRPr lang="en-ZA" sz="5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5EC813B-0353-53B5-8D12-1B60AE18DF84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>
            <a:off x="8415767" y="5373453"/>
            <a:ext cx="599182" cy="547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18706CF-2250-D4A4-49BC-445A9BA75011}"/>
              </a:ext>
            </a:extLst>
          </p:cNvPr>
          <p:cNvCxnSpPr>
            <a:cxnSpLocks/>
            <a:stCxn id="7" idx="3"/>
            <a:endCxn id="17" idx="1"/>
          </p:cNvCxnSpPr>
          <p:nvPr/>
        </p:nvCxnSpPr>
        <p:spPr>
          <a:xfrm flipV="1">
            <a:off x="9943738" y="1984443"/>
            <a:ext cx="954532" cy="34437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1E4822B-E4E6-952C-9DCE-0C551589E983}"/>
              </a:ext>
            </a:extLst>
          </p:cNvPr>
          <p:cNvCxnSpPr>
            <a:cxnSpLocks/>
            <a:stCxn id="10" idx="3"/>
            <a:endCxn id="24" idx="1"/>
          </p:cNvCxnSpPr>
          <p:nvPr/>
        </p:nvCxnSpPr>
        <p:spPr>
          <a:xfrm flipV="1">
            <a:off x="7360607" y="5472756"/>
            <a:ext cx="3264745" cy="6419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lowchart: Document 13">
            <a:extLst>
              <a:ext uri="{FF2B5EF4-FFF2-40B4-BE49-F238E27FC236}">
                <a16:creationId xmlns:a16="http://schemas.microsoft.com/office/drawing/2014/main" id="{F2AFF09C-F17A-1430-D42B-1DB88AC89D62}"/>
              </a:ext>
            </a:extLst>
          </p:cNvPr>
          <p:cNvSpPr/>
          <p:nvPr/>
        </p:nvSpPr>
        <p:spPr>
          <a:xfrm>
            <a:off x="10008720" y="6310177"/>
            <a:ext cx="928789" cy="385278"/>
          </a:xfrm>
          <a:prstGeom prst="flowChartDocumen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" dirty="0"/>
              <a:t>Fig. S4</a:t>
            </a:r>
            <a:endParaRPr lang="en-ZA" sz="5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1D1FE3E-3BEB-687D-8525-26411052F89C}"/>
              </a:ext>
            </a:extLst>
          </p:cNvPr>
          <p:cNvCxnSpPr>
            <a:cxnSpLocks/>
            <a:stCxn id="224" idx="3"/>
            <a:endCxn id="14" idx="1"/>
          </p:cNvCxnSpPr>
          <p:nvPr/>
        </p:nvCxnSpPr>
        <p:spPr>
          <a:xfrm>
            <a:off x="8979911" y="6448420"/>
            <a:ext cx="1028809" cy="543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Flowchart: Decision 223">
            <a:extLst>
              <a:ext uri="{FF2B5EF4-FFF2-40B4-BE49-F238E27FC236}">
                <a16:creationId xmlns:a16="http://schemas.microsoft.com/office/drawing/2014/main" id="{CF64592A-349F-E3BE-9C93-A4855F46766F}"/>
              </a:ext>
            </a:extLst>
          </p:cNvPr>
          <p:cNvSpPr/>
          <p:nvPr/>
        </p:nvSpPr>
        <p:spPr>
          <a:xfrm>
            <a:off x="7781547" y="6109388"/>
            <a:ext cx="1198364" cy="678063"/>
          </a:xfrm>
          <a:prstGeom prst="flowChartDecision">
            <a:avLst/>
          </a:prstGeom>
          <a:ln>
            <a:solidFill>
              <a:srgbClr val="7030A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err="1">
                <a:solidFill>
                  <a:srgbClr val="7030A0"/>
                </a:solidFill>
              </a:rPr>
              <a:t>Process_msgdm_results.Rmd</a:t>
            </a:r>
            <a:endParaRPr lang="en-ZA" sz="600" dirty="0">
              <a:solidFill>
                <a:srgbClr val="7030A0"/>
              </a:solidFill>
            </a:endParaRPr>
          </a:p>
        </p:txBody>
      </p: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C5ADAA32-699E-12E2-778B-64CE08F6D428}"/>
              </a:ext>
            </a:extLst>
          </p:cNvPr>
          <p:cNvCxnSpPr>
            <a:cxnSpLocks/>
            <a:stCxn id="39" idx="3"/>
            <a:endCxn id="224" idx="1"/>
          </p:cNvCxnSpPr>
          <p:nvPr/>
        </p:nvCxnSpPr>
        <p:spPr>
          <a:xfrm>
            <a:off x="7045586" y="5373454"/>
            <a:ext cx="735961" cy="10749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TextBox 247">
            <a:extLst>
              <a:ext uri="{FF2B5EF4-FFF2-40B4-BE49-F238E27FC236}">
                <a16:creationId xmlns:a16="http://schemas.microsoft.com/office/drawing/2014/main" id="{54B2AB5C-25C9-C4D1-BA88-76F9E28868BA}"/>
              </a:ext>
            </a:extLst>
          </p:cNvPr>
          <p:cNvSpPr txBox="1"/>
          <p:nvPr/>
        </p:nvSpPr>
        <p:spPr>
          <a:xfrm>
            <a:off x="4046583" y="2374045"/>
            <a:ext cx="108283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/>
              <a:t>Choose distribution family</a:t>
            </a:r>
            <a:endParaRPr lang="en-ZA" sz="500" dirty="0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B7CB845C-ABD1-B59F-0E79-43E23E003D1C}"/>
              </a:ext>
            </a:extLst>
          </p:cNvPr>
          <p:cNvSpPr txBox="1"/>
          <p:nvPr/>
        </p:nvSpPr>
        <p:spPr>
          <a:xfrm>
            <a:off x="4256374" y="3201778"/>
            <a:ext cx="59539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/>
              <a:t>Choose Spline</a:t>
            </a:r>
            <a:endParaRPr lang="en-ZA" sz="500" dirty="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DA10A53F-F58D-A0FF-33A3-7C4C9EC30C94}"/>
              </a:ext>
            </a:extLst>
          </p:cNvPr>
          <p:cNvSpPr txBox="1"/>
          <p:nvPr/>
        </p:nvSpPr>
        <p:spPr>
          <a:xfrm>
            <a:off x="6039264" y="2569757"/>
            <a:ext cx="9604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/>
              <a:t>Choose correlation structure </a:t>
            </a:r>
            <a:endParaRPr lang="en-ZA" sz="5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2E1159E-0C06-DDFA-9BED-C4206E1AF9B2}"/>
              </a:ext>
            </a:extLst>
          </p:cNvPr>
          <p:cNvSpPr txBox="1"/>
          <p:nvPr/>
        </p:nvSpPr>
        <p:spPr>
          <a:xfrm>
            <a:off x="7362221" y="3690415"/>
            <a:ext cx="59539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Choose Model</a:t>
            </a:r>
            <a:endParaRPr lang="en-ZA" sz="500" dirty="0"/>
          </a:p>
        </p:txBody>
      </p:sp>
    </p:spTree>
    <p:extLst>
      <p:ext uri="{BB962C8B-B14F-4D97-AF65-F5344CB8AC3E}">
        <p14:creationId xmlns:p14="http://schemas.microsoft.com/office/powerpoint/2010/main" val="852702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3699</TotalTime>
  <Words>353</Words>
  <Application>Microsoft Office PowerPoint</Application>
  <PresentationFormat>Widescreen</PresentationFormat>
  <Paragraphs>61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Rodger, JG, Dr [jgrodger@sun.ac.za]</dc:creator>
  <cp:lastModifiedBy>JGR</cp:lastModifiedBy>
  <cp:revision>24</cp:revision>
  <dcterms:created xsi:type="dcterms:W3CDTF">2024-05-14T07:54:29Z</dcterms:created>
  <dcterms:modified xsi:type="dcterms:W3CDTF">2026-07-20T07:37:20Z</dcterms:modified>
</cp:coreProperties>
</file>